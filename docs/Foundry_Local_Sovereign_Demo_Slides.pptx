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gradFill rotWithShape="1">
            <a:gsLst>
              <a:gs pos="0">
                <a:srgbClr val="5B2D91"/>
              </a:gs>
              <a:gs pos="100000">
                <a:srgbClr val="38E0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SOVEREIGN AI  •  FOUNDRY LOCAL ON AZURE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Same model, same data, same UI — </a:t>
            </a:r>
            <a:r>
              <a:rPr sz="3000" b="1">
                <a:solidFill>
                  <a:srgbClr val="B9A3E3"/>
                </a:solidFill>
                <a:latin typeface="Segoe UI"/>
              </a:rPr>
              <a:t>from Azure to 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8BDE6"/>
                </a:solidFill>
                <a:latin typeface="Segoe UI"/>
              </a:rPr>
              <a:t>A regulated bank's rate-forecasting model migrated out of Azure and run entirely on Azure Local — sovereign, low-latency, no cloud egress.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566160" cy="18288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13432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THE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A bank runs a predictive model in Azure against data in Azure. Regulation now demands it run </a:t>
            </a:r>
            <a:r>
              <a:rPr sz="1250" b="1">
                <a:solidFill>
                  <a:srgbClr val="38E0C4"/>
                </a:solidFill>
                <a:latin typeface="Segoe UI"/>
              </a:rPr>
              <a:t>at the edge</a:t>
            </a:r>
            <a:r>
              <a:rPr sz="1250" b="0">
                <a:solidFill>
                  <a:srgbClr val="FFFFFF"/>
                </a:solidFill>
                <a:latin typeface="Segoe UI"/>
              </a:rPr>
              <a:t> — same model, same data, same UI — on Azure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7315200" cy="18288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13432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807208"/>
            <a:ext cx="128016" cy="128016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706624"/>
            <a:ext cx="6583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Data sovereignty — </a:t>
            </a:r>
            <a:r>
              <a:rPr sz="1250" b="0">
                <a:solidFill>
                  <a:srgbClr val="C8BDE6"/>
                </a:solidFill>
                <a:latin typeface="Segoe UI"/>
              </a:rPr>
              <a:t>Inference + UI run on-prem; no cloud egress at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099816"/>
            <a:ext cx="128016" cy="128016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999232"/>
            <a:ext cx="6583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Operational lifecycle — </a:t>
            </a:r>
            <a:r>
              <a:rPr sz="1250" b="0">
                <a:solidFill>
                  <a:srgbClr val="C8BDE6"/>
                </a:solidFill>
                <a:latin typeface="Segoe UI"/>
              </a:rPr>
              <a:t>Paved road from validated ONNX: package - push - 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92424"/>
            <a:ext cx="128016" cy="128016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291840"/>
            <a:ext cx="6583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One Azure control plane — </a:t>
            </a:r>
            <a:r>
              <a:rPr sz="1250" b="0">
                <a:solidFill>
                  <a:srgbClr val="C8BDE6"/>
                </a:solidFill>
                <a:latin typeface="Segoe UI"/>
              </a:rPr>
              <a:t>AKS Arc + Foundry Local managed from Azure via Arc.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85032"/>
            <a:ext cx="128016" cy="128016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584448"/>
            <a:ext cx="6583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Air-gap capable — </a:t>
            </a:r>
            <a:r>
              <a:rPr sz="1250" b="0">
                <a:solidFill>
                  <a:srgbClr val="C8BDE6"/>
                </a:solidFill>
                <a:latin typeface="Segoe UI"/>
              </a:rPr>
              <a:t>Once images/artifacts are cached, the edge runs offline.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ARCHITECTURE — CLOUD BASELINE  →  SOVEREIGN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4846320" cy="1828800"/>
          </a:xfrm>
          <a:prstGeom prst="roundRect">
            <a:avLst/>
          </a:prstGeom>
          <a:solidFill>
            <a:srgbClr val="472A7E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18888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454"/>
                </a:solidFill>
                <a:latin typeface="Segoe UI"/>
              </a:rPr>
              <a:t>AZURE (PUBLIC CLOUD)</a:t>
            </a:r>
            <a:r>
              <a:rPr sz="1100" b="0">
                <a:solidFill>
                  <a:srgbClr val="C8BDE6"/>
                </a:solidFill>
                <a:latin typeface="Segoe UI"/>
              </a:rPr>
              <a:t>   — Act 1 'before'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76088"/>
            <a:ext cx="2103120" cy="310896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Container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5276088"/>
            <a:ext cx="214884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ONNX rate model (FastAPI)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96712"/>
            <a:ext cx="210312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Next.js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696712"/>
            <a:ext cx="214884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Container Registry (ACR)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26480"/>
            <a:ext cx="4480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BDE6"/>
                </a:solidFill>
                <a:latin typeface="Segoe UI"/>
              </a:rPr>
              <a:t>location = cloud  •  ~37 ms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532120" y="5422392"/>
            <a:ext cx="1051560" cy="457200"/>
          </a:xfrm>
          <a:prstGeom prst="rightArrow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9834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8E0C4"/>
                </a:solidFill>
                <a:latin typeface="Segoe UI"/>
              </a:rPr>
              <a:t>migrate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5879592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C8BDE6"/>
                </a:solidFill>
                <a:latin typeface="Segoe UI"/>
              </a:rPr>
              <a:t>ORAS + ACR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4709160"/>
            <a:ext cx="4846320" cy="1828800"/>
          </a:xfrm>
          <a:prstGeom prst="roundRect">
            <a:avLst/>
          </a:prstGeom>
          <a:solidFill>
            <a:srgbClr val="472A7E"/>
          </a:solidFill>
          <a:ln w="19050">
            <a:solidFill>
              <a:srgbClr val="38E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818888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AZURE LOCAL — AKS Arc (fl-banking-portland)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5276088"/>
            <a:ext cx="2103120" cy="310896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Foundry Local operator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276088"/>
            <a:ext cx="214884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ONNX rate model (predictive)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5696712"/>
            <a:ext cx="210312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Phi-4 (generative)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696712"/>
            <a:ext cx="2148840" cy="310896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A124E"/>
                </a:solidFill>
                <a:latin typeface="Segoe UI"/>
              </a:rPr>
              <a:t>Next.js dashboard (in-cluster)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6126480"/>
            <a:ext cx="4480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BDE6"/>
                </a:solidFill>
                <a:latin typeface="Segoe UI"/>
              </a:rPr>
              <a:t>location = edge  •  ~42 ms  •  </a:t>
            </a:r>
            <a:r>
              <a:rPr sz="1100" b="1">
                <a:solidFill>
                  <a:srgbClr val="38E0C4"/>
                </a:solidFill>
                <a:latin typeface="Segoe UI"/>
              </a:rPr>
              <a:t>identical 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8BDE6"/>
                </a:solidFill>
                <a:latin typeface="Segoe UI"/>
              </a:rPr>
              <a:t>Managed centrally from Azure via Arc.  ACR is the only cloud touchpoint at deploy time — once cached, the edge is sovereign.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gradFill rotWithShape="1">
            <a:gsLst>
              <a:gs pos="0">
                <a:srgbClr val="5B2D91"/>
              </a:gs>
              <a:gs pos="100000">
                <a:srgbClr val="38E0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THE DEMO IN THREE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Cloud → Edge model lifecycle, </a:t>
            </a:r>
            <a:r>
              <a:rPr sz="2800" b="1">
                <a:solidFill>
                  <a:srgbClr val="B9A3E3"/>
                </a:solidFill>
                <a:latin typeface="Segoe UI"/>
              </a:rPr>
              <a:t>verified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57600" cy="32004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566928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37944"/>
            <a:ext cx="3657600" cy="2834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32004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A124E"/>
                </a:solidFill>
                <a:latin typeface="Segoe UI"/>
              </a:rPr>
              <a:t>ACT 1  </a:t>
            </a:r>
            <a:r>
              <a:rPr sz="1350" b="1">
                <a:solidFill>
                  <a:srgbClr val="2A124E"/>
                </a:solidFill>
                <a:latin typeface="Segoe UI"/>
              </a:rPr>
              <a:t>Model in Azure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78024"/>
            <a:ext cx="109728" cy="109728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86584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ONNX rate-forecast model behind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44952"/>
            <a:ext cx="109728" cy="109728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53512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Hosted on Azure Container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109728" cy="109728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2044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Next.js dashboard calls the cloud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06240"/>
            <a:ext cx="3200400" cy="365760"/>
          </a:xfrm>
          <a:prstGeom prst="roundRect">
            <a:avLst/>
          </a:prstGeom>
          <a:solidFill>
            <a:srgbClr val="472A7E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3108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454"/>
                </a:solidFill>
                <a:latin typeface="Segoe UI"/>
              </a:rPr>
              <a:t>location = cloud  •  ~37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554480"/>
            <a:ext cx="3657600" cy="32004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554480"/>
            <a:ext cx="3657600" cy="566928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837944"/>
            <a:ext cx="3657600" cy="283464"/>
          </a:xfrm>
          <a:prstGeom prst="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572768"/>
            <a:ext cx="32004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A124E"/>
                </a:solidFill>
                <a:latin typeface="Segoe UI"/>
              </a:rPr>
              <a:t>ACT 2  </a:t>
            </a:r>
            <a:r>
              <a:rPr sz="1350" b="1">
                <a:solidFill>
                  <a:srgbClr val="2A124E"/>
                </a:solidFill>
                <a:latin typeface="Segoe UI"/>
              </a:rPr>
              <a:t>Migrate to the edge  (HERO)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478024"/>
            <a:ext cx="109728" cy="109728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386584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Same .onnx packaged with ORAS → ACR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044952"/>
            <a:ext cx="109728" cy="109728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2953512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Deployed to Foundry Local on AKS Arc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611880"/>
            <a:ext cx="109728" cy="109728"/>
          </a:xfrm>
          <a:prstGeom prst="roundRect">
            <a:avLst/>
          </a:prstGeom>
          <a:solidFill>
            <a:srgbClr val="38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352044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UI redeployed in-cluster — fully sovereign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206240"/>
            <a:ext cx="3200400" cy="365760"/>
          </a:xfrm>
          <a:prstGeom prst="roundRect">
            <a:avLst/>
          </a:prstGeom>
          <a:solidFill>
            <a:srgbClr val="472A7E"/>
          </a:solidFill>
          <a:ln w="12700">
            <a:solidFill>
              <a:srgbClr val="38E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224528"/>
            <a:ext cx="3108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8E0C4"/>
                </a:solidFill>
                <a:latin typeface="Segoe UI"/>
              </a:rPr>
              <a:t>location = edge  •  identical curve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554480"/>
            <a:ext cx="3657600" cy="32004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1554480"/>
            <a:ext cx="3657600" cy="566928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837944"/>
            <a:ext cx="3657600" cy="283464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1572768"/>
            <a:ext cx="320040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A124E"/>
                </a:solidFill>
                <a:latin typeface="Segoe UI"/>
              </a:rPr>
              <a:t>ACT 3  </a:t>
            </a:r>
            <a:r>
              <a:rPr sz="1350" b="1">
                <a:solidFill>
                  <a:srgbClr val="2A124E"/>
                </a:solidFill>
                <a:latin typeface="Segoe UI"/>
              </a:rPr>
              <a:t>Add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2478024"/>
            <a:ext cx="109728" cy="109728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2386584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Catalog Phi-4 (onnx-genai) on CPU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3044952"/>
            <a:ext cx="109728" cy="109728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9952" y="2953512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'Ask the AI analyst' panel → /api/chat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611880"/>
            <a:ext cx="109728" cy="109728"/>
          </a:xfrm>
          <a:prstGeom prst="round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352044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Generative + predictive, both at the edge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4206240"/>
            <a:ext cx="3200400" cy="365760"/>
          </a:xfrm>
          <a:prstGeom prst="roundRect">
            <a:avLst/>
          </a:prstGeom>
          <a:solidFill>
            <a:srgbClr val="472A7E"/>
          </a:solidFill>
          <a:ln w="12700">
            <a:solidFill>
              <a:srgbClr val="B9A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4224528"/>
            <a:ext cx="3108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9A3E3"/>
                </a:solidFill>
                <a:latin typeface="Segoe UI"/>
              </a:rPr>
              <a:t>real LLM answer from the 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E0C4"/>
                </a:solidFill>
                <a:latin typeface="Segoe UI"/>
              </a:rPr>
              <a:t>PROOF POINTS FOR THE ROOM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49240"/>
            <a:ext cx="3657600" cy="11430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4681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8E0C4"/>
                </a:solidFill>
                <a:latin typeface="Segoe UI"/>
              </a:rPr>
              <a:t>Identical numbers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8BDE6"/>
                </a:solidFill>
                <a:latin typeface="Segoe UI"/>
              </a:rPr>
              <a:t>Cloud &amp; edge forecasts are byte-identical (1Y 4.42→4.90 at +50 bps).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40" y="5349240"/>
            <a:ext cx="3657600" cy="11430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54681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8E0C4"/>
                </a:solidFill>
                <a:latin typeface="Segoe UI"/>
              </a:rPr>
              <a:t>Show the pods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58064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8BDE6"/>
                </a:solidFill>
                <a:latin typeface="Segoe UI"/>
              </a:rPr>
              <a:t>kubectl get pods -n foundry-local-operator  →  real edge model pods.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5349240"/>
            <a:ext cx="3657600" cy="1143000"/>
          </a:xfrm>
          <a:prstGeom prst="roundRect">
            <a:avLst/>
          </a:prstGeom>
          <a:solidFill>
            <a:srgbClr val="3A2266"/>
          </a:solidFill>
          <a:ln w="12700">
            <a:solidFill>
              <a:srgbClr val="6B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5468112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8E0C4"/>
                </a:solidFill>
                <a:latin typeface="Segoe UI"/>
              </a:rPr>
              <a:t>Sovereign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8064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8BDE6"/>
                </a:solidFill>
                <a:latin typeface="Segoe UI"/>
              </a:rPr>
              <a:t>Edge dashboard reachable only via the Arc proxy — no public URL.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8BDE6"/>
                </a:solidFill>
                <a:latin typeface="Segoe UI"/>
              </a:rPr>
              <a:t>BYO predictive ONNX model + curated catalog Phi-4  •  cluster fl-banking-portland  •  RG sovereign-ai-daz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