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24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gradFill rotWithShape="1">
            <a:gsLst>
              <a:gs pos="0">
                <a:srgbClr val="5B2D91"/>
              </a:gs>
              <a:gs pos="100000">
                <a:srgbClr val="38E0C4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8E0C4"/>
                </a:solidFill>
                <a:latin typeface="Segoe UI"/>
              </a:rPr>
              <a:t>SOVEREIGN AI  •  FOUNDRY LOCAL ON AZURE LOCAL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Segoe UI"/>
              </a:rPr>
              <a:t>Take the model out of Azure — </a:t>
            </a:r>
            <a:r>
              <a:rPr sz="3000" b="1">
                <a:solidFill>
                  <a:srgbClr val="B9A3E3"/>
                </a:solidFill>
                <a:latin typeface="Segoe UI"/>
              </a:rPr>
              <a:t>run it whole at the edge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11091672" cy="868680"/>
          </a:xfrm>
          <a:prstGeom prst="roundRect">
            <a:avLst/>
          </a:prstGeom>
          <a:solidFill>
            <a:srgbClr val="3A2266"/>
          </a:solidFill>
          <a:ln w="19050">
            <a:solidFill>
              <a:srgbClr val="7B4F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607040" cy="7315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38E0C4"/>
                </a:solidFill>
                <a:latin typeface="Segoe UI"/>
              </a:rPr>
              <a:t>The scenario:  </a:t>
            </a:r>
            <a:r>
              <a:rPr sz="1400" b="0">
                <a:solidFill>
                  <a:srgbClr val="FFFFFF"/>
                </a:solidFill>
                <a:latin typeface="Segoe UI"/>
              </a:rPr>
              <a:t>A regulated bank runs a rate-forecasting model in Azure, against data in Azure. New sovereignty rules say the model, the data and the UI must run on-premises — with no cloud dependency at runtime.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514600"/>
            <a:ext cx="5449824" cy="1874519"/>
          </a:xfrm>
          <a:prstGeom prst="roundRect">
            <a:avLst/>
          </a:prstGeom>
          <a:solidFill>
            <a:srgbClr val="3A2266"/>
          </a:solidFill>
          <a:ln w="19050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42616"/>
            <a:ext cx="4992624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B454"/>
                </a:solidFill>
                <a:latin typeface="Segoe UI"/>
              </a:rPr>
              <a:t>THE CHALLENGE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118104"/>
            <a:ext cx="118872" cy="118872"/>
          </a:xfrm>
          <a:prstGeom prst="roundRect">
            <a:avLst/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3026664"/>
            <a:ext cx="4809744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Segoe UI"/>
              </a:rPr>
              <a:t>Data residency &amp; regulation — inference cannot leave the premises.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538728"/>
            <a:ext cx="118872" cy="118872"/>
          </a:xfrm>
          <a:prstGeom prst="roundRect">
            <a:avLst/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447288"/>
            <a:ext cx="4809744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Segoe UI"/>
              </a:rPr>
              <a:t>Low latency at branch / on-site, even when disconnected.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959352"/>
            <a:ext cx="118872" cy="118872"/>
          </a:xfrm>
          <a:prstGeom prst="roundRect">
            <a:avLst/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3867912"/>
            <a:ext cx="4809744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Segoe UI"/>
              </a:rPr>
              <a:t>Don't rebuild the app — keep the same model, data and UI.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0488" y="2514600"/>
            <a:ext cx="5449824" cy="1874519"/>
          </a:xfrm>
          <a:prstGeom prst="roundRect">
            <a:avLst/>
          </a:prstGeom>
          <a:solidFill>
            <a:srgbClr val="3A2266"/>
          </a:solidFill>
          <a:ln w="19050">
            <a:solidFill>
              <a:srgbClr val="38E0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2642616"/>
            <a:ext cx="4992624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38E0C4"/>
                </a:solidFill>
                <a:latin typeface="Segoe UI"/>
              </a:rPr>
              <a:t>THE OUTCOME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19088" y="3118104"/>
            <a:ext cx="118872" cy="118872"/>
          </a:xfrm>
          <a:prstGeom prst="roundRect">
            <a:avLst/>
          </a:prstGeom>
          <a:solidFill>
            <a:srgbClr val="38E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3026664"/>
            <a:ext cx="4809744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Segoe UI"/>
              </a:rPr>
              <a:t>Same ONNX model + same Next.js UI, now on Azure Local.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19088" y="3538728"/>
            <a:ext cx="118872" cy="118872"/>
          </a:xfrm>
          <a:prstGeom prst="roundRect">
            <a:avLst/>
          </a:prstGeom>
          <a:solidFill>
            <a:srgbClr val="38E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3447288"/>
            <a:ext cx="4809744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Segoe UI"/>
              </a:rPr>
              <a:t>Forecasts are byte-identical to the cloud — a true migration.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19088" y="3959352"/>
            <a:ext cx="118872" cy="118872"/>
          </a:xfrm>
          <a:prstGeom prst="roundRect">
            <a:avLst/>
          </a:prstGeom>
          <a:solidFill>
            <a:srgbClr val="38E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3867912"/>
            <a:ext cx="4809744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Segoe UI"/>
              </a:rPr>
              <a:t>Plus a generative AI analyst (Phi-4) — all running sovereign.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617720"/>
            <a:ext cx="2697480" cy="1554480"/>
          </a:xfrm>
          <a:prstGeom prst="roundRect">
            <a:avLst/>
          </a:prstGeom>
          <a:solidFill>
            <a:srgbClr val="472A7E"/>
          </a:solidFill>
          <a:ln w="12700">
            <a:solidFill>
              <a:srgbClr val="6B4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617720"/>
            <a:ext cx="109728" cy="1554480"/>
          </a:xfrm>
          <a:prstGeom prst="rect">
            <a:avLst/>
          </a:prstGeom>
          <a:solidFill>
            <a:srgbClr val="38E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" y="4764024"/>
            <a:ext cx="23317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38E0C4"/>
                </a:solidFill>
                <a:latin typeface="Segoe UI"/>
              </a:rPr>
              <a:t>Sovereignty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" y="5166360"/>
            <a:ext cx="228600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>
                <a:solidFill>
                  <a:srgbClr val="C8BDE6"/>
                </a:solidFill>
                <a:latin typeface="Segoe UI"/>
              </a:rPr>
              <a:t>Model, data &amp; UI on-prem. No cloud egress at runtime; air-gap capable.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55848" y="4617720"/>
            <a:ext cx="2697480" cy="1554480"/>
          </a:xfrm>
          <a:prstGeom prst="roundRect">
            <a:avLst/>
          </a:prstGeom>
          <a:solidFill>
            <a:srgbClr val="472A7E"/>
          </a:solidFill>
          <a:ln w="12700">
            <a:solidFill>
              <a:srgbClr val="6B4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355848" y="4617720"/>
            <a:ext cx="109728" cy="1554480"/>
          </a:xfrm>
          <a:prstGeom prst="rect">
            <a:avLst/>
          </a:prstGeom>
          <a:solidFill>
            <a:srgbClr val="38E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11880" y="4764024"/>
            <a:ext cx="23317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38E0C4"/>
                </a:solidFill>
                <a:latin typeface="Segoe UI"/>
              </a:rPr>
              <a:t>Paved road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11880" y="5166360"/>
            <a:ext cx="228600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>
                <a:solidFill>
                  <a:srgbClr val="C8BDE6"/>
                </a:solidFill>
                <a:latin typeface="Segoe UI"/>
              </a:rPr>
              <a:t>From a validated ONNX model: package - push - deploy - manage.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63056" y="4617720"/>
            <a:ext cx="2697480" cy="1554480"/>
          </a:xfrm>
          <a:prstGeom prst="roundRect">
            <a:avLst/>
          </a:prstGeom>
          <a:solidFill>
            <a:srgbClr val="472A7E"/>
          </a:solidFill>
          <a:ln w="12700">
            <a:solidFill>
              <a:srgbClr val="6B4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63056" y="4617720"/>
            <a:ext cx="109728" cy="1554480"/>
          </a:xfrm>
          <a:prstGeom prst="rect">
            <a:avLst/>
          </a:prstGeom>
          <a:solidFill>
            <a:srgbClr val="38E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4764024"/>
            <a:ext cx="23317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38E0C4"/>
                </a:solidFill>
                <a:latin typeface="Segoe UI"/>
              </a:rPr>
              <a:t>One control plane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19088" y="5166360"/>
            <a:ext cx="228600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>
                <a:solidFill>
                  <a:srgbClr val="C8BDE6"/>
                </a:solidFill>
                <a:latin typeface="Segoe UI"/>
              </a:rPr>
              <a:t>AKS Arc + Foundry Local, governed from Azure via Arc.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70264" y="4617720"/>
            <a:ext cx="2697480" cy="1554480"/>
          </a:xfrm>
          <a:prstGeom prst="roundRect">
            <a:avLst/>
          </a:prstGeom>
          <a:solidFill>
            <a:srgbClr val="472A7E"/>
          </a:solidFill>
          <a:ln w="12700">
            <a:solidFill>
              <a:srgbClr val="6B4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970264" y="4617720"/>
            <a:ext cx="109728" cy="1554480"/>
          </a:xfrm>
          <a:prstGeom prst="rect">
            <a:avLst/>
          </a:prstGeom>
          <a:solidFill>
            <a:srgbClr val="38E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26296" y="4764024"/>
            <a:ext cx="23317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38E0C4"/>
                </a:solidFill>
                <a:latin typeface="Segoe UI"/>
              </a:rPr>
              <a:t>Same experience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26296" y="5166360"/>
            <a:ext cx="228600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>
                <a:solidFill>
                  <a:srgbClr val="C8BDE6"/>
                </a:solidFill>
                <a:latin typeface="Segoe UI"/>
              </a:rPr>
              <a:t>Identical UI and results — migration, not a rewrite.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6510528"/>
            <a:ext cx="110642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C8BDE6"/>
                </a:solidFill>
                <a:latin typeface="Segoe UI"/>
              </a:rPr>
              <a:t>BYO predictive ONNX model + curated catalog Phi-4  •  cluster fl-banking-portland  •  RG sovereign-ai-daz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24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gradFill rotWithShape="1">
            <a:gsLst>
              <a:gs pos="0">
                <a:srgbClr val="5B2D91"/>
              </a:gs>
              <a:gs pos="100000">
                <a:srgbClr val="38E0C4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8E0C4"/>
                </a:solidFill>
                <a:latin typeface="Segoe UI"/>
              </a:rPr>
              <a:t>THE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Segoe UI"/>
              </a:rPr>
              <a:t>From </a:t>
            </a:r>
            <a:r>
              <a:rPr sz="2800" b="1">
                <a:solidFill>
                  <a:srgbClr val="FFB454"/>
                </a:solidFill>
                <a:latin typeface="Segoe UI"/>
              </a:rPr>
              <a:t>Azure </a:t>
            </a:r>
            <a:r>
              <a:rPr sz="2800" b="1">
                <a:solidFill>
                  <a:srgbClr val="FFFFFF"/>
                </a:solidFill>
                <a:latin typeface="Segoe UI"/>
              </a:rPr>
              <a:t>to the </a:t>
            </a:r>
            <a:r>
              <a:rPr sz="2800" b="1">
                <a:solidFill>
                  <a:srgbClr val="38E0C4"/>
                </a:solidFill>
                <a:latin typeface="Segoe UI"/>
              </a:rPr>
              <a:t>sovereign edge</a:t>
            </a:r>
            <a:r>
              <a:rPr sz="2800" b="1">
                <a:solidFill>
                  <a:srgbClr val="FFFFFF"/>
                </a:solidFill>
                <a:latin typeface="Segoe UI"/>
              </a:rPr>
              <a:t>  — one model, five steps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4069080" cy="2743200"/>
          </a:xfrm>
          <a:prstGeom prst="roundRect">
            <a:avLst/>
          </a:prstGeom>
          <a:noFill/>
          <a:ln w="15875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56232"/>
            <a:ext cx="38404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FB454"/>
                </a:solidFill>
                <a:latin typeface="Segoe UI"/>
              </a:rPr>
              <a:t>AZURE  (build + publish)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46320" y="1828800"/>
            <a:ext cx="2468880" cy="2743200"/>
          </a:xfrm>
          <a:prstGeom prst="roundRect">
            <a:avLst/>
          </a:prstGeom>
          <a:noFill/>
          <a:ln w="15875">
            <a:solidFill>
              <a:srgbClr val="B9A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37760" y="1856232"/>
            <a:ext cx="22860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B9A3E3"/>
                </a:solidFill>
                <a:latin typeface="Segoe UI"/>
              </a:rPr>
              <a:t>CLOUD TOUCHPOINT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71231" y="1828800"/>
            <a:ext cx="4069080" cy="2743200"/>
          </a:xfrm>
          <a:prstGeom prst="roundRect">
            <a:avLst/>
          </a:prstGeom>
          <a:noFill/>
          <a:ln w="15875">
            <a:solidFill>
              <a:srgbClr val="38E0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62672" y="1856232"/>
            <a:ext cx="38404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38E0C4"/>
                </a:solidFill>
                <a:latin typeface="Segoe UI"/>
              </a:rPr>
              <a:t>AZURE LOCAL  (run sovereign)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2286000"/>
            <a:ext cx="1783080" cy="1371600"/>
          </a:xfrm>
          <a:prstGeom prst="roundRect">
            <a:avLst/>
          </a:prstGeom>
          <a:solidFill>
            <a:srgbClr val="472A7E"/>
          </a:solidFill>
          <a:ln w="22225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3232" y="2286000"/>
            <a:ext cx="1783080" cy="91440"/>
          </a:xfrm>
          <a:prstGeom prst="rect">
            <a:avLst/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468880"/>
            <a:ext cx="1563624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Segoe UI"/>
              </a:rPr>
              <a:t>1  Develop in Azure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2999232"/>
            <a:ext cx="1600200" cy="594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1000" b="0">
                <a:solidFill>
                  <a:srgbClr val="C8BDE6"/>
                </a:solidFill>
                <a:latin typeface="Segoe UI"/>
              </a:rPr>
              <a:t>Trained model running</a:t>
            </a:r>
          </a:p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1000" b="0">
                <a:solidFill>
                  <a:srgbClr val="C8BDE6"/>
                </a:solidFill>
                <a:latin typeface="Segoe UI"/>
              </a:rPr>
              <a:t>in Azure today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79192" y="2286000"/>
            <a:ext cx="1783080" cy="1371600"/>
          </a:xfrm>
          <a:prstGeom prst="roundRect">
            <a:avLst/>
          </a:prstGeom>
          <a:solidFill>
            <a:srgbClr val="472A7E"/>
          </a:solidFill>
          <a:ln w="22225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679192" y="2286000"/>
            <a:ext cx="1783080" cy="91440"/>
          </a:xfrm>
          <a:prstGeom prst="rect">
            <a:avLst/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88920" y="2468880"/>
            <a:ext cx="1563624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Segoe UI"/>
              </a:rPr>
              <a:t>2  Export to ONNX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70632" y="2999232"/>
            <a:ext cx="1600200" cy="594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1000" b="0">
                <a:solidFill>
                  <a:srgbClr val="C8BDE6"/>
                </a:solidFill>
                <a:latin typeface="Segoe UI"/>
              </a:rPr>
              <a:t>skl2onnx / torch.onnx</a:t>
            </a:r>
          </a:p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1000" b="0">
                <a:solidFill>
                  <a:srgbClr val="C8BDE6"/>
                </a:solidFill>
                <a:latin typeface="Segoe UI"/>
              </a:rPr>
              <a:t>(customer-owned step)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83480" y="2286000"/>
            <a:ext cx="1783080" cy="1371600"/>
          </a:xfrm>
          <a:prstGeom prst="roundRect">
            <a:avLst/>
          </a:prstGeom>
          <a:solidFill>
            <a:srgbClr val="472A7E"/>
          </a:solidFill>
          <a:ln w="22225">
            <a:solidFill>
              <a:srgbClr val="B9A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83480" y="2286000"/>
            <a:ext cx="1783080" cy="91440"/>
          </a:xfrm>
          <a:prstGeom prst="rect">
            <a:avLst/>
          </a:prstGeom>
          <a:solidFill>
            <a:srgbClr val="B9A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93208" y="2468880"/>
            <a:ext cx="1563624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Segoe UI"/>
              </a:rPr>
              <a:t>3  Package + push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2999232"/>
            <a:ext cx="1600200" cy="594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1000" b="0">
                <a:solidFill>
                  <a:srgbClr val="C8BDE6"/>
                </a:solidFill>
                <a:latin typeface="Segoe UI"/>
              </a:rPr>
              <a:t>ORAS  -&gt;  ACR</a:t>
            </a:r>
          </a:p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1000" b="0">
                <a:solidFill>
                  <a:srgbClr val="C8BDE6"/>
                </a:solidFill>
                <a:latin typeface="Segoe UI"/>
              </a:rPr>
              <a:t>OCI model artifact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35824" y="2286000"/>
            <a:ext cx="1783080" cy="1371600"/>
          </a:xfrm>
          <a:prstGeom prst="roundRect">
            <a:avLst/>
          </a:prstGeom>
          <a:solidFill>
            <a:srgbClr val="472A7E"/>
          </a:solidFill>
          <a:ln w="22225">
            <a:solidFill>
              <a:srgbClr val="38E0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35824" y="2286000"/>
            <a:ext cx="1783080" cy="91440"/>
          </a:xfrm>
          <a:prstGeom prst="rect">
            <a:avLst/>
          </a:prstGeom>
          <a:solidFill>
            <a:srgbClr val="38E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45552" y="2468880"/>
            <a:ext cx="1563624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Segoe UI"/>
              </a:rPr>
              <a:t>4  Deploy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27264" y="2999232"/>
            <a:ext cx="1600200" cy="594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1000" b="0">
                <a:solidFill>
                  <a:srgbClr val="C8BDE6"/>
                </a:solidFill>
                <a:latin typeface="Segoe UI"/>
              </a:rPr>
              <a:t>ModelDeployment on</a:t>
            </a:r>
          </a:p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1000" b="0">
                <a:solidFill>
                  <a:srgbClr val="C8BDE6"/>
                </a:solidFill>
                <a:latin typeface="Segoe UI"/>
              </a:rPr>
              <a:t>Foundry Local (AKS Arc)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710928" y="2286000"/>
            <a:ext cx="1783080" cy="1371600"/>
          </a:xfrm>
          <a:prstGeom prst="roundRect">
            <a:avLst/>
          </a:prstGeom>
          <a:solidFill>
            <a:srgbClr val="472A7E"/>
          </a:solidFill>
          <a:ln w="22225">
            <a:solidFill>
              <a:srgbClr val="38E0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710928" y="2286000"/>
            <a:ext cx="1783080" cy="91440"/>
          </a:xfrm>
          <a:prstGeom prst="rect">
            <a:avLst/>
          </a:prstGeom>
          <a:solidFill>
            <a:srgbClr val="38E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20656" y="2468880"/>
            <a:ext cx="1563624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Segoe UI"/>
              </a:rPr>
              <a:t>5  Run at the edge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02368" y="2999232"/>
            <a:ext cx="1600200" cy="594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1000" b="0">
                <a:solidFill>
                  <a:srgbClr val="C8BDE6"/>
                </a:solidFill>
                <a:latin typeface="Segoe UI"/>
              </a:rPr>
              <a:t>Predictive + Phi-4</a:t>
            </a:r>
          </a:p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1000" b="0">
                <a:solidFill>
                  <a:srgbClr val="C8BDE6"/>
                </a:solidFill>
                <a:latin typeface="Segoe UI"/>
              </a:rPr>
              <a:t>identical results</a:t>
            </a:r>
          </a:p>
        </p:txBody>
      </p:sp>
      <p:sp>
        <p:nvSpPr>
          <p:cNvPr id="31" name="Chevron 30"/>
          <p:cNvSpPr/>
          <p:nvPr/>
        </p:nvSpPr>
        <p:spPr>
          <a:xfrm>
            <a:off x="2359152" y="2807208"/>
            <a:ext cx="457200" cy="329184"/>
          </a:xfrm>
          <a:prstGeom prst="chevron">
            <a:avLst/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Chevron 31"/>
          <p:cNvSpPr/>
          <p:nvPr/>
        </p:nvSpPr>
        <p:spPr>
          <a:xfrm>
            <a:off x="4494276" y="2807208"/>
            <a:ext cx="457200" cy="329184"/>
          </a:xfrm>
          <a:prstGeom prst="chevron">
            <a:avLst/>
          </a:prstGeom>
          <a:solidFill>
            <a:srgbClr val="B9A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Chevron 32"/>
          <p:cNvSpPr/>
          <p:nvPr/>
        </p:nvSpPr>
        <p:spPr>
          <a:xfrm>
            <a:off x="7022592" y="2807208"/>
            <a:ext cx="457200" cy="329184"/>
          </a:xfrm>
          <a:prstGeom prst="chevron">
            <a:avLst/>
          </a:prstGeom>
          <a:solidFill>
            <a:srgbClr val="38E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Chevron 33"/>
          <p:cNvSpPr/>
          <p:nvPr/>
        </p:nvSpPr>
        <p:spPr>
          <a:xfrm>
            <a:off x="9386316" y="2807208"/>
            <a:ext cx="457200" cy="329184"/>
          </a:xfrm>
          <a:prstGeom prst="chevron">
            <a:avLst/>
          </a:prstGeom>
          <a:solidFill>
            <a:srgbClr val="38E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48640" y="5074920"/>
            <a:ext cx="11091672" cy="960120"/>
          </a:xfrm>
          <a:prstGeom prst="roundRect">
            <a:avLst/>
          </a:prstGeom>
          <a:solidFill>
            <a:srgbClr val="3A2266"/>
          </a:solidFill>
          <a:ln w="15875">
            <a:solidFill>
              <a:srgbClr val="7B4F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5175504"/>
            <a:ext cx="10607040" cy="7772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1">
                <a:solidFill>
                  <a:srgbClr val="38E0C4"/>
                </a:solidFill>
                <a:latin typeface="Segoe UI"/>
              </a:rPr>
              <a:t>Microsoft's value starts at ONNX.  </a:t>
            </a:r>
            <a:r>
              <a:rPr sz="1350" b="0">
                <a:solidFill>
                  <a:srgbClr val="FFFFFF"/>
                </a:solidFill>
                <a:latin typeface="Segoe UI"/>
              </a:rPr>
              <a:t>Converting to ONNX is the customer's job; the platform is the paved road from a validated ONNX model to a managed, sovereign edge deployment. ACR is the only cloud touch — once cached, the running state is fully on Azure Local.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510528"/>
            <a:ext cx="110642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C8BDE6"/>
                </a:solidFill>
                <a:latin typeface="Segoe UI"/>
              </a:rPr>
              <a:t>Acts 1-2 use the predictive ONNX model; Act 3 adds the catalog Phi-4 generative model — both served by Foundry Local.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24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gradFill rotWithShape="1">
            <a:gsLst>
              <a:gs pos="0">
                <a:srgbClr val="5B2D91"/>
              </a:gs>
              <a:gs pos="100000">
                <a:srgbClr val="38E0C4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8E0C4"/>
                </a:solidFill>
                <a:latin typeface="Segoe UI"/>
              </a:rPr>
              <a:t>THE DEMO IN THREE 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Segoe UI"/>
              </a:rPr>
              <a:t>Cloud → Edge model lifecycle, </a:t>
            </a:r>
            <a:r>
              <a:rPr sz="2800" b="1">
                <a:solidFill>
                  <a:srgbClr val="B9A3E3"/>
                </a:solidFill>
                <a:latin typeface="Segoe UI"/>
              </a:rPr>
              <a:t>verified end-to-end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3657600" cy="3200400"/>
          </a:xfrm>
          <a:prstGeom prst="roundRect">
            <a:avLst/>
          </a:prstGeom>
          <a:solidFill>
            <a:srgbClr val="3A2266"/>
          </a:solidFill>
          <a:ln w="12700">
            <a:solidFill>
              <a:srgbClr val="6B4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3657600" cy="566928"/>
          </a:xfrm>
          <a:prstGeom prst="roundRect">
            <a:avLst/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37944"/>
            <a:ext cx="3657600" cy="283464"/>
          </a:xfrm>
          <a:prstGeom prst="rect">
            <a:avLst/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572768"/>
            <a:ext cx="3200400" cy="53035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2A124E"/>
                </a:solidFill>
                <a:latin typeface="Segoe UI"/>
              </a:rPr>
              <a:t>ACT 1  </a:t>
            </a:r>
            <a:r>
              <a:rPr sz="1350" b="1">
                <a:solidFill>
                  <a:srgbClr val="2A124E"/>
                </a:solidFill>
                <a:latin typeface="Segoe UI"/>
              </a:rPr>
              <a:t>Model in Azure today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478024"/>
            <a:ext cx="109728" cy="109728"/>
          </a:xfrm>
          <a:prstGeom prst="roundRect">
            <a:avLst/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386584"/>
            <a:ext cx="29718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Segoe UI"/>
              </a:rPr>
              <a:t>ONNX rate model behind FastAPI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044952"/>
            <a:ext cx="109728" cy="109728"/>
          </a:xfrm>
          <a:prstGeom prst="roundRect">
            <a:avLst/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953512"/>
            <a:ext cx="29718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Segoe UI"/>
              </a:rPr>
              <a:t>Hosted on Azure Container Apps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611880"/>
            <a:ext cx="109728" cy="109728"/>
          </a:xfrm>
          <a:prstGeom prst="roundRect">
            <a:avLst/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3520440"/>
            <a:ext cx="29718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Segoe UI"/>
              </a:rPr>
              <a:t>Next.js dashboard calls the cloud API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206240"/>
            <a:ext cx="3200400" cy="365760"/>
          </a:xfrm>
          <a:prstGeom prst="roundRect">
            <a:avLst/>
          </a:prstGeom>
          <a:solidFill>
            <a:srgbClr val="472A7E"/>
          </a:solidFill>
          <a:ln w="12700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224528"/>
            <a:ext cx="310896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FB454"/>
                </a:solidFill>
                <a:latin typeface="Segoe UI"/>
              </a:rPr>
              <a:t>location = cloud  •  ~37 ms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34840" y="1554480"/>
            <a:ext cx="3657600" cy="3200400"/>
          </a:xfrm>
          <a:prstGeom prst="roundRect">
            <a:avLst/>
          </a:prstGeom>
          <a:solidFill>
            <a:srgbClr val="3A2266"/>
          </a:solidFill>
          <a:ln w="12700">
            <a:solidFill>
              <a:srgbClr val="6B4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434840" y="1554480"/>
            <a:ext cx="3657600" cy="566928"/>
          </a:xfrm>
          <a:prstGeom prst="roundRect">
            <a:avLst/>
          </a:prstGeom>
          <a:solidFill>
            <a:srgbClr val="38E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34840" y="1837944"/>
            <a:ext cx="3657600" cy="283464"/>
          </a:xfrm>
          <a:prstGeom prst="rect">
            <a:avLst/>
          </a:prstGeom>
          <a:solidFill>
            <a:srgbClr val="38E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63440" y="1572768"/>
            <a:ext cx="3200400" cy="53035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2A124E"/>
                </a:solidFill>
                <a:latin typeface="Segoe UI"/>
              </a:rPr>
              <a:t>ACT 2  </a:t>
            </a:r>
            <a:r>
              <a:rPr sz="1350" b="1">
                <a:solidFill>
                  <a:srgbClr val="2A124E"/>
                </a:solidFill>
                <a:latin typeface="Segoe UI"/>
              </a:rPr>
              <a:t>Migrate to the edge  (HERO)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63440" y="2478024"/>
            <a:ext cx="109728" cy="109728"/>
          </a:xfrm>
          <a:prstGeom prst="roundRect">
            <a:avLst/>
          </a:prstGeom>
          <a:solidFill>
            <a:srgbClr val="38E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73752" y="2386584"/>
            <a:ext cx="29718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Segoe UI"/>
              </a:rPr>
              <a:t>Same .onnx packaged via ORAS -&gt; ACR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663440" y="3044952"/>
            <a:ext cx="109728" cy="109728"/>
          </a:xfrm>
          <a:prstGeom prst="roundRect">
            <a:avLst/>
          </a:prstGeom>
          <a:solidFill>
            <a:srgbClr val="38E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73752" y="2953512"/>
            <a:ext cx="29718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Segoe UI"/>
              </a:rPr>
              <a:t>Deployed to Foundry Local on AKS Arc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63440" y="3611880"/>
            <a:ext cx="109728" cy="109728"/>
          </a:xfrm>
          <a:prstGeom prst="roundRect">
            <a:avLst/>
          </a:prstGeom>
          <a:solidFill>
            <a:srgbClr val="38E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73752" y="3520440"/>
            <a:ext cx="29718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Segoe UI"/>
              </a:rPr>
              <a:t>UI redeployed in-cluster — sovereign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663440" y="4206240"/>
            <a:ext cx="3200400" cy="365760"/>
          </a:xfrm>
          <a:prstGeom prst="roundRect">
            <a:avLst/>
          </a:prstGeom>
          <a:solidFill>
            <a:srgbClr val="472A7E"/>
          </a:solidFill>
          <a:ln w="12700">
            <a:solidFill>
              <a:srgbClr val="38E0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9160" y="4224528"/>
            <a:ext cx="310896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38E0C4"/>
                </a:solidFill>
                <a:latin typeface="Segoe UI"/>
              </a:rPr>
              <a:t>location = edge  •  identical curve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1554480"/>
            <a:ext cx="3657600" cy="3200400"/>
          </a:xfrm>
          <a:prstGeom prst="roundRect">
            <a:avLst/>
          </a:prstGeom>
          <a:solidFill>
            <a:srgbClr val="3A2266"/>
          </a:solidFill>
          <a:ln w="12700">
            <a:solidFill>
              <a:srgbClr val="6B4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321040" y="1554480"/>
            <a:ext cx="3657600" cy="566928"/>
          </a:xfrm>
          <a:prstGeom prst="roundRect">
            <a:avLst/>
          </a:prstGeom>
          <a:solidFill>
            <a:srgbClr val="B9A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321040" y="1837944"/>
            <a:ext cx="3657600" cy="283464"/>
          </a:xfrm>
          <a:prstGeom prst="rect">
            <a:avLst/>
          </a:prstGeom>
          <a:solidFill>
            <a:srgbClr val="B9A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49640" y="1572768"/>
            <a:ext cx="3200400" cy="53035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2A124E"/>
                </a:solidFill>
                <a:latin typeface="Segoe UI"/>
              </a:rPr>
              <a:t>ACT 3  </a:t>
            </a:r>
            <a:r>
              <a:rPr sz="1350" b="1">
                <a:solidFill>
                  <a:srgbClr val="2A124E"/>
                </a:solidFill>
                <a:latin typeface="Segoe UI"/>
              </a:rPr>
              <a:t>Add intelligence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549640" y="2478024"/>
            <a:ext cx="109728" cy="109728"/>
          </a:xfrm>
          <a:prstGeom prst="roundRect">
            <a:avLst/>
          </a:prstGeom>
          <a:solidFill>
            <a:srgbClr val="B9A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59952" y="2386584"/>
            <a:ext cx="29718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Segoe UI"/>
              </a:rPr>
              <a:t>Catalog Phi-4 (onnx-genai) on CPU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549640" y="3044952"/>
            <a:ext cx="109728" cy="109728"/>
          </a:xfrm>
          <a:prstGeom prst="roundRect">
            <a:avLst/>
          </a:prstGeom>
          <a:solidFill>
            <a:srgbClr val="B9A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759952" y="2953512"/>
            <a:ext cx="29718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Segoe UI"/>
              </a:rPr>
              <a:t>'Ask the AI analyst' panel -&gt; /api/chat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549640" y="3611880"/>
            <a:ext cx="109728" cy="109728"/>
          </a:xfrm>
          <a:prstGeom prst="roundRect">
            <a:avLst/>
          </a:prstGeom>
          <a:solidFill>
            <a:srgbClr val="B9A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759952" y="3520440"/>
            <a:ext cx="29718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Segoe UI"/>
              </a:rPr>
              <a:t>Generative + predictive, both at the edge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549640" y="4206240"/>
            <a:ext cx="3200400" cy="365760"/>
          </a:xfrm>
          <a:prstGeom prst="roundRect">
            <a:avLst/>
          </a:prstGeom>
          <a:solidFill>
            <a:srgbClr val="472A7E"/>
          </a:solidFill>
          <a:ln w="12700">
            <a:solidFill>
              <a:srgbClr val="B9A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95360" y="4224528"/>
            <a:ext cx="310896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B9A3E3"/>
                </a:solidFill>
                <a:latin typeface="Segoe UI"/>
              </a:rPr>
              <a:t>real LLM answer from the edge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5029200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8E0C4"/>
                </a:solidFill>
                <a:latin typeface="Segoe UI"/>
              </a:rPr>
              <a:t>PROOF POINTS FOR THE ROOM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5349240"/>
            <a:ext cx="3657600" cy="1143000"/>
          </a:xfrm>
          <a:prstGeom prst="roundRect">
            <a:avLst/>
          </a:prstGeom>
          <a:solidFill>
            <a:srgbClr val="3A2266"/>
          </a:solidFill>
          <a:ln w="12700">
            <a:solidFill>
              <a:srgbClr val="6B4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7240" y="5468112"/>
            <a:ext cx="3200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8E0C4"/>
                </a:solidFill>
                <a:latin typeface="Segoe UI"/>
              </a:rPr>
              <a:t>Identical numbers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" y="5806440"/>
            <a:ext cx="32004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C8BDE6"/>
                </a:solidFill>
                <a:latin typeface="Segoe UI"/>
              </a:rPr>
              <a:t>Cloud &amp; edge forecasts match byte-for-byte (1Y 4.42-&gt;4.90 at +50 bps).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434840" y="5349240"/>
            <a:ext cx="3657600" cy="1143000"/>
          </a:xfrm>
          <a:prstGeom prst="roundRect">
            <a:avLst/>
          </a:prstGeom>
          <a:solidFill>
            <a:srgbClr val="3A2266"/>
          </a:solidFill>
          <a:ln w="12700">
            <a:solidFill>
              <a:srgbClr val="6B4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63440" y="5468112"/>
            <a:ext cx="3200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8E0C4"/>
                </a:solidFill>
                <a:latin typeface="Segoe UI"/>
              </a:rPr>
              <a:t>Show the pods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5806440"/>
            <a:ext cx="32004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C8BDE6"/>
                </a:solidFill>
                <a:latin typeface="Segoe UI"/>
              </a:rPr>
              <a:t>kubectl get pods -n foundry-local-operator  -&gt;  real edge model pods.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321040" y="5349240"/>
            <a:ext cx="3657600" cy="1143000"/>
          </a:xfrm>
          <a:prstGeom prst="roundRect">
            <a:avLst/>
          </a:prstGeom>
          <a:solidFill>
            <a:srgbClr val="3A2266"/>
          </a:solidFill>
          <a:ln w="12700">
            <a:solidFill>
              <a:srgbClr val="6B4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549640" y="5468112"/>
            <a:ext cx="3200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8E0C4"/>
                </a:solidFill>
                <a:latin typeface="Segoe UI"/>
              </a:rPr>
              <a:t>Sovereign UI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49640" y="5806440"/>
            <a:ext cx="32004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C8BDE6"/>
                </a:solidFill>
                <a:latin typeface="Segoe UI"/>
              </a:rPr>
              <a:t>Edge dashboard reachable only via the Arc proxy — no public URL.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6510528"/>
            <a:ext cx="110642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C8BDE6"/>
                </a:solidFill>
                <a:latin typeface="Segoe UI"/>
              </a:rPr>
              <a:t>BYO predictive ONNX model + curated catalog Phi-4  •  cluster fl-banking-portland  •  RG sovereign-ai-daz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24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gradFill rotWithShape="1">
            <a:gsLst>
              <a:gs pos="0">
                <a:srgbClr val="5B2D91"/>
              </a:gs>
              <a:gs pos="100000">
                <a:srgbClr val="38E0C4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8E0C4"/>
                </a:solidFill>
                <a:latin typeface="Segoe UI"/>
              </a:rPr>
              <a:t>FOUNDRY LOCAL  •  BRING-YOUR-OWN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The config that runs our model at the edge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B9A3E3"/>
                </a:solidFill>
                <a:latin typeface="Segoe UI"/>
              </a:rPr>
              <a:t>Inline custom-model pattern (Microsoft Learn).  </a:t>
            </a:r>
            <a:r>
              <a:rPr sz="1200" b="0">
                <a:solidFill>
                  <a:srgbClr val="8CE09A"/>
                </a:solidFill>
                <a:latin typeface="Segoe UI"/>
              </a:rPr>
              <a:t>kubectl apply -f modeldeployment-rate-forecast.yaml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6720840" cy="4160520"/>
          </a:xfrm>
          <a:prstGeom prst="roundRect">
            <a:avLst/>
          </a:prstGeom>
          <a:solidFill>
            <a:srgbClr val="1B0E33"/>
          </a:solidFill>
          <a:ln w="15875">
            <a:solidFill>
              <a:srgbClr val="7B4F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6355080" cy="388620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>
                <a:solidFill>
                  <a:srgbClr val="7B4FC7"/>
                </a:solidFill>
                <a:latin typeface="Consolas"/>
              </a:rPr>
              <a:t>apiVersion:</a:t>
            </a:r>
            <a:r>
              <a:rPr sz="1250">
                <a:solidFill>
                  <a:srgbClr val="B9A3E3"/>
                </a:solidFill>
                <a:latin typeface="Consolas"/>
              </a:rPr>
              <a:t> foundrylocal.azure.com/v1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>
                <a:solidFill>
                  <a:srgbClr val="7B4FC7"/>
                </a:solidFill>
                <a:latin typeface="Consolas"/>
              </a:rPr>
              <a:t>kind:</a:t>
            </a:r>
            <a:r>
              <a:rPr sz="1250">
                <a:solidFill>
                  <a:srgbClr val="B9A3E3"/>
                </a:solidFill>
                <a:latin typeface="Consolas"/>
              </a:rPr>
              <a:t> ModelDeployment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>
                <a:solidFill>
                  <a:srgbClr val="7B4FC7"/>
                </a:solidFill>
                <a:latin typeface="Consolas"/>
              </a:rPr>
              <a:t>metadata: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>
                <a:solidFill>
                  <a:srgbClr val="7B4FC7"/>
                </a:solidFill>
                <a:latin typeface="Consolas"/>
              </a:rPr>
              <a:t>  name:</a:t>
            </a:r>
            <a:r>
              <a:rPr sz="1250">
                <a:solidFill>
                  <a:srgbClr val="FFFFFF"/>
                </a:solidFill>
                <a:latin typeface="Consolas"/>
              </a:rPr>
              <a:t> rate-forecast-byo-cpu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>
                <a:solidFill>
                  <a:srgbClr val="7B4FC7"/>
                </a:solidFill>
                <a:latin typeface="Consolas"/>
              </a:rPr>
              <a:t>  namespace:</a:t>
            </a:r>
            <a:r>
              <a:rPr sz="1250">
                <a:solidFill>
                  <a:srgbClr val="FFFFFF"/>
                </a:solidFill>
                <a:latin typeface="Consolas"/>
              </a:rPr>
              <a:t> foundry-local-operator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>
                <a:solidFill>
                  <a:srgbClr val="7B4FC7"/>
                </a:solidFill>
                <a:latin typeface="Consolas"/>
              </a:rPr>
              <a:t>spec: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>
                <a:solidFill>
                  <a:srgbClr val="7B4FC7"/>
                </a:solidFill>
                <a:latin typeface="Consolas"/>
              </a:rPr>
              <a:t>  workloadType:</a:t>
            </a:r>
            <a:r>
              <a:rPr sz="1250">
                <a:solidFill>
                  <a:srgbClr val="38E0C4"/>
                </a:solidFill>
                <a:latin typeface="Consolas"/>
              </a:rPr>
              <a:t> predictive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>
                <a:solidFill>
                  <a:srgbClr val="7B4FC7"/>
                </a:solidFill>
                <a:latin typeface="Consolas"/>
              </a:rPr>
              <a:t>  compute:</a:t>
            </a:r>
            <a:r>
              <a:rPr sz="1250">
                <a:solidFill>
                  <a:srgbClr val="38E0C4"/>
                </a:solidFill>
                <a:latin typeface="Consolas"/>
              </a:rPr>
              <a:t> cpu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>
                <a:solidFill>
                  <a:srgbClr val="7B4FC7"/>
                </a:solidFill>
                <a:latin typeface="Consolas"/>
              </a:rPr>
              <a:t>  runtime:</a:t>
            </a:r>
            <a:r>
              <a:rPr sz="1250">
                <a:solidFill>
                  <a:srgbClr val="38E0C4"/>
                </a:solidFill>
                <a:latin typeface="Consolas"/>
              </a:rPr>
              <a:t> onnx-genai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>
                <a:solidFill>
                  <a:srgbClr val="7B4FC7"/>
                </a:solidFill>
                <a:latin typeface="Consolas"/>
              </a:rPr>
              <a:t>  model: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>
                <a:solidFill>
                  <a:srgbClr val="7B4FC7"/>
                </a:solidFill>
                <a:latin typeface="Consolas"/>
              </a:rPr>
              <a:t>    custom: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>
                <a:solidFill>
                  <a:srgbClr val="7B4FC7"/>
                </a:solidFill>
                <a:latin typeface="Consolas"/>
              </a:rPr>
              <a:t>      registry:</a:t>
            </a:r>
            <a:r>
              <a:rPr sz="1250">
                <a:solidFill>
                  <a:srgbClr val="FFFFFF"/>
                </a:solidFill>
                <a:latin typeface="Consolas"/>
              </a:rPr>
              <a:t> flbankingacr.azurecr.io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>
                <a:solidFill>
                  <a:srgbClr val="7B4FC7"/>
                </a:solidFill>
                <a:latin typeface="Consolas"/>
              </a:rPr>
              <a:t>      repository:</a:t>
            </a:r>
            <a:r>
              <a:rPr sz="1250">
                <a:solidFill>
                  <a:srgbClr val="FFFFFF"/>
                </a:solidFill>
                <a:latin typeface="Consolas"/>
              </a:rPr>
              <a:t> models/rate-forecast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>
                <a:solidFill>
                  <a:srgbClr val="7B4FC7"/>
                </a:solidFill>
                <a:latin typeface="Consolas"/>
              </a:rPr>
              <a:t>      tag:</a:t>
            </a:r>
            <a:r>
              <a:rPr sz="1250">
                <a:solidFill>
                  <a:srgbClr val="FFB454"/>
                </a:solidFill>
                <a:latin typeface="Consolas"/>
              </a:rPr>
              <a:t> v2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>
                <a:solidFill>
                  <a:srgbClr val="7B4FC7"/>
                </a:solidFill>
                <a:latin typeface="Consolas"/>
              </a:rPr>
              <a:t>      credentials: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>
                <a:solidFill>
                  <a:srgbClr val="7B4FC7"/>
                </a:solidFill>
                <a:latin typeface="Consolas"/>
              </a:rPr>
              <a:t>        secretRef:</a:t>
            </a:r>
            <a:r>
              <a:rPr sz="1250">
                <a:solidFill>
                  <a:srgbClr val="FFFFFF"/>
                </a:solidFill>
                <a:latin typeface="Consolas"/>
              </a:rPr>
              <a:t>  name: registry-credentials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>
                <a:solidFill>
                  <a:srgbClr val="7B4FC7"/>
                </a:solidFill>
                <a:latin typeface="Consolas"/>
              </a:rPr>
              <a:t>  resources:</a:t>
            </a:r>
            <a:r>
              <a:rPr sz="1250">
                <a:solidFill>
                  <a:srgbClr val="C8BDE6"/>
                </a:solidFill>
                <a:latin typeface="Consolas"/>
              </a:rPr>
              <a:t>  requests {cpu:1, 2Gi}  limits {cpu:2, 4Gi}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>
                <a:solidFill>
                  <a:srgbClr val="7B4FC7"/>
                </a:solidFill>
                <a:latin typeface="Consolas"/>
              </a:rPr>
              <a:t>  endpoint:</a:t>
            </a:r>
            <a:r>
              <a:rPr sz="1250">
                <a:solidFill>
                  <a:srgbClr val="FFFFFF"/>
                </a:solidFill>
                <a:latin typeface="Consolas"/>
              </a:rPr>
              <a:t>  enabled: </a:t>
            </a:r>
            <a:r>
              <a:rPr sz="1250">
                <a:solidFill>
                  <a:srgbClr val="FFB454"/>
                </a:solidFill>
                <a:latin typeface="Consolas"/>
              </a:rPr>
              <a:t>false</a:t>
            </a:r>
            <a:r>
              <a:rPr sz="1250">
                <a:solidFill>
                  <a:srgbClr val="C8BDE6"/>
                </a:solidFill>
                <a:latin typeface="Consolas"/>
              </a:rPr>
              <a:t>   # in-cluster only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1627632"/>
            <a:ext cx="4114800" cy="914400"/>
          </a:xfrm>
          <a:prstGeom prst="roundRect">
            <a:avLst/>
          </a:prstGeom>
          <a:solidFill>
            <a:srgbClr val="3A2266"/>
          </a:solidFill>
          <a:ln w="15875">
            <a:solidFill>
              <a:srgbClr val="38E0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79" y="1627632"/>
            <a:ext cx="91440" cy="914400"/>
          </a:xfrm>
          <a:prstGeom prst="rect">
            <a:avLst/>
          </a:prstGeom>
          <a:solidFill>
            <a:srgbClr val="38E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26679" y="1719072"/>
            <a:ext cx="374904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8E0C4"/>
                </a:solidFill>
                <a:latin typeface="Segoe UI"/>
              </a:rPr>
              <a:t>workloadType / compute / runtime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2011680"/>
            <a:ext cx="3730752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050" b="0">
                <a:solidFill>
                  <a:srgbClr val="FFFFFF"/>
                </a:solidFill>
                <a:latin typeface="Segoe UI"/>
              </a:rPr>
              <a:t>predictive + cpu selects the ONNX predictive serving image. (generative + onnx-genai for Phi-4.)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2633472"/>
            <a:ext cx="4114800" cy="914400"/>
          </a:xfrm>
          <a:prstGeom prst="roundRect">
            <a:avLst/>
          </a:prstGeom>
          <a:solidFill>
            <a:srgbClr val="3A2266"/>
          </a:solidFill>
          <a:ln w="15875">
            <a:solidFill>
              <a:srgbClr val="B9A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79" y="2633472"/>
            <a:ext cx="91440" cy="914400"/>
          </a:xfrm>
          <a:prstGeom prst="rect">
            <a:avLst/>
          </a:prstGeom>
          <a:solidFill>
            <a:srgbClr val="B9A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26679" y="2724912"/>
            <a:ext cx="374904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B9A3E3"/>
                </a:solidFill>
                <a:latin typeface="Segoe UI"/>
              </a:rPr>
              <a:t>model.custom -&gt; ACR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26679" y="3017520"/>
            <a:ext cx="3730752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050" b="0">
                <a:solidFill>
                  <a:srgbClr val="FFFFFF"/>
                </a:solidFill>
                <a:latin typeface="Segoe UI"/>
              </a:rPr>
              <a:t>Pulls the OCI model artifact you pushed with ORAS: registry / repository / tag.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3639312"/>
            <a:ext cx="4114800" cy="914400"/>
          </a:xfrm>
          <a:prstGeom prst="roundRect">
            <a:avLst/>
          </a:prstGeom>
          <a:solidFill>
            <a:srgbClr val="3A2266"/>
          </a:solidFill>
          <a:ln w="15875">
            <a:solidFill>
              <a:srgbClr val="B9A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79" y="3639312"/>
            <a:ext cx="91440" cy="914400"/>
          </a:xfrm>
          <a:prstGeom prst="rect">
            <a:avLst/>
          </a:prstGeom>
          <a:solidFill>
            <a:srgbClr val="B9A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26679" y="3730752"/>
            <a:ext cx="374904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B9A3E3"/>
                </a:solidFill>
                <a:latin typeface="Segoe UI"/>
              </a:rPr>
              <a:t>credentials.secretRef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26679" y="4023360"/>
            <a:ext cx="3730752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050" b="0">
                <a:solidFill>
                  <a:srgbClr val="FFFFFF"/>
                </a:solidFill>
                <a:latin typeface="Segoe UI"/>
              </a:rPr>
              <a:t>K8s secret 'registry-credentials' (username/password) for the private ACR pull.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79" y="4645152"/>
            <a:ext cx="4114800" cy="914400"/>
          </a:xfrm>
          <a:prstGeom prst="roundRect">
            <a:avLst/>
          </a:prstGeom>
          <a:solidFill>
            <a:srgbClr val="3A2266"/>
          </a:solidFill>
          <a:ln w="15875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79" y="4645152"/>
            <a:ext cx="91440" cy="914400"/>
          </a:xfrm>
          <a:prstGeom prst="rect">
            <a:avLst/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26679" y="4736592"/>
            <a:ext cx="374904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FB454"/>
                </a:solidFill>
                <a:latin typeface="Segoe UI"/>
              </a:rPr>
              <a:t>endpoint.enabled: false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6679" y="5029200"/>
            <a:ext cx="3730752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050" b="0">
                <a:solidFill>
                  <a:srgbClr val="FFFFFF"/>
                </a:solidFill>
                <a:latin typeface="Segoe UI"/>
              </a:rPr>
              <a:t>No external LoadBalancer on this cluster — the operator exposes a ClusterIP :5000 the UI calls in-cluster. Stays sovereign.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897880"/>
            <a:ext cx="11091672" cy="457200"/>
          </a:xfrm>
          <a:prstGeom prst="roundRect">
            <a:avLst/>
          </a:prstGeom>
          <a:solidFill>
            <a:srgbClr val="1B0E33"/>
          </a:solidFill>
          <a:ln w="12700">
            <a:solidFill>
              <a:srgbClr val="7B4F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5943600"/>
            <a:ext cx="1078992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8CE09A"/>
                </a:solidFill>
                <a:latin typeface="Consolas"/>
              </a:rPr>
              <a:t>Verify:  </a:t>
            </a:r>
            <a:r>
              <a:rPr sz="1150" b="0">
                <a:solidFill>
                  <a:srgbClr val="C8BDE6"/>
                </a:solidFill>
                <a:latin typeface="Consolas"/>
              </a:rPr>
              <a:t>kubectl get modeldeployment -n foundry-local-operator   •   kubectl get pods,jobs -n foundry-local-operator   -&gt;  Running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24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gradFill rotWithShape="1">
            <a:gsLst>
              <a:gs pos="0">
                <a:srgbClr val="5B2D91"/>
              </a:gs>
              <a:gs pos="100000">
                <a:srgbClr val="38E0C4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8E0C4"/>
                </a:solidFill>
                <a:latin typeface="Segoe UI"/>
              </a:rPr>
              <a:t>DEMO SCRIPT  •  ~8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How to walk the room through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1">
                <a:solidFill>
                  <a:srgbClr val="38E0C4"/>
                </a:solidFill>
                <a:latin typeface="Segoe UI"/>
              </a:rPr>
              <a:t>Open:  </a:t>
            </a:r>
            <a:r>
              <a:rPr sz="1250" b="0">
                <a:solidFill>
                  <a:srgbClr val="FFFFFF"/>
                </a:solidFill>
                <a:latin typeface="Segoe UI"/>
              </a:rPr>
              <a:t>“Same model, same data, same UI — I'll move it out of Azure and run it whole on Azure Local, then add a generative model. It all stays local.”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3657600" cy="3886200"/>
          </a:xfrm>
          <a:prstGeom prst="roundRect">
            <a:avLst/>
          </a:prstGeom>
          <a:solidFill>
            <a:srgbClr val="3A2266"/>
          </a:solidFill>
          <a:ln w="12700">
            <a:solidFill>
              <a:srgbClr val="6B4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3657600" cy="502920"/>
          </a:xfrm>
          <a:prstGeom prst="roundRect">
            <a:avLst/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29968"/>
            <a:ext cx="3657600" cy="256032"/>
          </a:xfrm>
          <a:prstGeom prst="rect">
            <a:avLst/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801368"/>
            <a:ext cx="329184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2A124E"/>
                </a:solidFill>
                <a:latin typeface="Segoe UI"/>
              </a:rPr>
              <a:t>ACT 1 — In Azure today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2441448"/>
            <a:ext cx="658368" cy="256032"/>
          </a:xfrm>
          <a:prstGeom prst="roundRect">
            <a:avLst/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2A124E"/>
                </a:solidFill>
                <a:latin typeface="Segoe UI"/>
              </a:rPr>
              <a:t>SAY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734056"/>
            <a:ext cx="324612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Segoe UI"/>
              </a:rPr>
              <a:t>“Standard Azure PaaS — the baseline we migrate away from.”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3502152"/>
            <a:ext cx="658368" cy="256032"/>
          </a:xfrm>
          <a:prstGeom prst="roundRect">
            <a:avLst/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2A124E"/>
                </a:solidFill>
                <a:latin typeface="Segoe UI"/>
              </a:rPr>
              <a:t>SHOW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794760"/>
            <a:ext cx="324612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Segoe UI"/>
              </a:rPr>
              <a:t>Tab A: public dashboard. Move slider -&gt; badge location = cloud, ~37 ms.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4562856"/>
            <a:ext cx="658368" cy="256032"/>
          </a:xfrm>
          <a:prstGeom prst="roundRect">
            <a:avLst/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2A124E"/>
                </a:solidFill>
                <a:latin typeface="Segoe UI"/>
              </a:rPr>
              <a:t>PROVE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855464"/>
            <a:ext cx="324612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Segoe UI"/>
              </a:rPr>
              <a:t>Portal RG sovereign-ai-daz: 2 Container Apps + ACR.  az containerapp list -o table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34840" y="1783080"/>
            <a:ext cx="3657600" cy="3886200"/>
          </a:xfrm>
          <a:prstGeom prst="roundRect">
            <a:avLst/>
          </a:prstGeom>
          <a:solidFill>
            <a:srgbClr val="3A2266"/>
          </a:solidFill>
          <a:ln w="12700">
            <a:solidFill>
              <a:srgbClr val="6B4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434840" y="1783080"/>
            <a:ext cx="3657600" cy="502920"/>
          </a:xfrm>
          <a:prstGeom prst="roundRect">
            <a:avLst/>
          </a:prstGeom>
          <a:solidFill>
            <a:srgbClr val="38E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434840" y="2029968"/>
            <a:ext cx="3657600" cy="256032"/>
          </a:xfrm>
          <a:prstGeom prst="rect">
            <a:avLst/>
          </a:prstGeom>
          <a:solidFill>
            <a:srgbClr val="38E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36008" y="1801368"/>
            <a:ext cx="329184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2A124E"/>
                </a:solidFill>
                <a:latin typeface="Segoe UI"/>
              </a:rPr>
              <a:t>ACT 2 — Migrate (HERO)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2441448"/>
            <a:ext cx="658368" cy="256032"/>
          </a:xfrm>
          <a:prstGeom prst="roundRect">
            <a:avLst/>
          </a:prstGeom>
          <a:solidFill>
            <a:srgbClr val="38E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2A124E"/>
                </a:solidFill>
                <a:latin typeface="Segoe UI"/>
              </a:rPr>
              <a:t>SAY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36008" y="2734056"/>
            <a:ext cx="324612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Segoe UI"/>
              </a:rPr>
              <a:t>“Converting to ONNX is the customer's job; we own everything after.”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36008" y="3502152"/>
            <a:ext cx="658368" cy="256032"/>
          </a:xfrm>
          <a:prstGeom prst="roundRect">
            <a:avLst/>
          </a:prstGeom>
          <a:solidFill>
            <a:srgbClr val="38E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2A124E"/>
                </a:solidFill>
                <a:latin typeface="Segoe UI"/>
              </a:rPr>
              <a:t>SHOW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36008" y="3794760"/>
            <a:ext cx="324612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Segoe UI"/>
              </a:rPr>
              <a:t>package_and_push.sh -&gt; ORAS pushes ONNX to ACR. Tab B http://localhost:8080: badge edge, ~42 ms.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36008" y="4562856"/>
            <a:ext cx="658368" cy="256032"/>
          </a:xfrm>
          <a:prstGeom prst="roundRect">
            <a:avLst/>
          </a:prstGeom>
          <a:solidFill>
            <a:srgbClr val="38E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2A124E"/>
                </a:solidFill>
                <a:latin typeface="Segoe UI"/>
              </a:rPr>
              <a:t>PROVE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36008" y="4855464"/>
            <a:ext cx="324612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Segoe UI"/>
              </a:rPr>
              <a:t>kubectl get nodes / modeldeployments / pods -n foundry-local-operator. Same +50 bps = identical curve.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21040" y="1783080"/>
            <a:ext cx="3657600" cy="3886200"/>
          </a:xfrm>
          <a:prstGeom prst="roundRect">
            <a:avLst/>
          </a:prstGeom>
          <a:solidFill>
            <a:srgbClr val="3A2266"/>
          </a:solidFill>
          <a:ln w="12700">
            <a:solidFill>
              <a:srgbClr val="6B4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321040" y="1783080"/>
            <a:ext cx="3657600" cy="502920"/>
          </a:xfrm>
          <a:prstGeom prst="roundRect">
            <a:avLst/>
          </a:prstGeom>
          <a:solidFill>
            <a:srgbClr val="B9A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321040" y="2029968"/>
            <a:ext cx="3657600" cy="256032"/>
          </a:xfrm>
          <a:prstGeom prst="rect">
            <a:avLst/>
          </a:prstGeom>
          <a:solidFill>
            <a:srgbClr val="B9A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22208" y="1801368"/>
            <a:ext cx="329184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2A124E"/>
                </a:solidFill>
                <a:latin typeface="Segoe UI"/>
              </a:rPr>
              <a:t>ACT 3 — Add intelligence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522208" y="2441448"/>
            <a:ext cx="658368" cy="256032"/>
          </a:xfrm>
          <a:prstGeom prst="roundRect">
            <a:avLst/>
          </a:prstGeom>
          <a:solidFill>
            <a:srgbClr val="B9A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2A124E"/>
                </a:solidFill>
                <a:latin typeface="Segoe UI"/>
              </a:rPr>
              <a:t>SAY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22208" y="2734056"/>
            <a:ext cx="324612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Segoe UI"/>
              </a:rPr>
              <a:t>“Now a generative model from the catalog — Phi-4 — on the same CPU cluster.”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522208" y="3502152"/>
            <a:ext cx="658368" cy="256032"/>
          </a:xfrm>
          <a:prstGeom prst="roundRect">
            <a:avLst/>
          </a:prstGeom>
          <a:solidFill>
            <a:srgbClr val="B9A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2A124E"/>
                </a:solidFill>
                <a:latin typeface="Segoe UI"/>
              </a:rPr>
              <a:t>SHOW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22208" y="3794760"/>
            <a:ext cx="324612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Segoe UI"/>
              </a:rPr>
              <a:t>'Ask the AI analyst' -&gt; a suggestion. Plain-language reply, generated at the edge.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522208" y="4562856"/>
            <a:ext cx="658368" cy="256032"/>
          </a:xfrm>
          <a:prstGeom prst="roundRect">
            <a:avLst/>
          </a:prstGeom>
          <a:solidFill>
            <a:srgbClr val="B9A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2A124E"/>
                </a:solidFill>
                <a:latin typeface="Segoe UI"/>
              </a:rPr>
              <a:t>PROVE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22208" y="4855464"/>
            <a:ext cx="324612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Segoe UI"/>
              </a:rPr>
              <a:t>kubectl get modeldeployment phi-4-cpu (onnx-genai, Ready). Tip: warm up once (~40s cold).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510528"/>
            <a:ext cx="110642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C8BDE6"/>
                </a:solidFill>
                <a:latin typeface="Segoe UI"/>
              </a:rPr>
              <a:t>Backup: dashboard has per-act fallbacks; keep the az connectedk8s proxy alive; pivot to kubectl to prove the edge workloads are real.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